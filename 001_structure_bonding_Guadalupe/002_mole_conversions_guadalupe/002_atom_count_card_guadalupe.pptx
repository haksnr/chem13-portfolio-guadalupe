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80700" cy="7556500"/>
  <p:notesSz cx="6858000" cy="9144000"/>
  <p:embeddedFontLst>
    <p:embeddedFont>
      <p:font typeface="Canva Sans Bold" charset="1" panose="020B0803030501040103"/>
      <p:regular r:id="rId7"/>
    </p:embeddedFont>
    <p:embeddedFont>
      <p:font typeface="Canva Sans" charset="1" panose="020B0503030501040103"/>
      <p:regular r:id="rId8"/>
    </p:embeddedFont>
    <p:embeddedFont>
      <p:font typeface="Canva Sans Italics" charset="1" panose="020B0503030501040103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bipm.org/en/publications/si-brochure" TargetMode="External" Type="http://schemas.openxmlformats.org/officeDocument/2006/relationships/hyperlink"/><Relationship Id="rId4" Target="https://sciencenotes.org/wp-content/uploads/2017/01/PeriodicTableBW2017.png" TargetMode="External" Type="http://schemas.openxmlformats.org/officeDocument/2006/relationships/hyperlink"/><Relationship Id="rId5" Target="https://pubchem.ncbi.nlm.nih.gov/compound/5234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3535" y="14101"/>
            <a:ext cx="6882266" cy="549966"/>
            <a:chOff x="0" y="0"/>
            <a:chExt cx="2465768" cy="197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5768" cy="197041"/>
            </a:xfrm>
            <a:custGeom>
              <a:avLst/>
              <a:gdLst/>
              <a:ahLst/>
              <a:cxnLst/>
              <a:rect r="r" b="b" t="t" l="l"/>
              <a:pathLst>
                <a:path h="197041" w="2465768">
                  <a:moveTo>
                    <a:pt x="13499" y="0"/>
                  </a:moveTo>
                  <a:lnTo>
                    <a:pt x="2452269" y="0"/>
                  </a:lnTo>
                  <a:cubicBezTo>
                    <a:pt x="2459724" y="0"/>
                    <a:pt x="2465768" y="6044"/>
                    <a:pt x="2465768" y="13499"/>
                  </a:cubicBezTo>
                  <a:lnTo>
                    <a:pt x="2465768" y="183542"/>
                  </a:lnTo>
                  <a:cubicBezTo>
                    <a:pt x="2465768" y="190997"/>
                    <a:pt x="2459724" y="197041"/>
                    <a:pt x="2452269" y="197041"/>
                  </a:cubicBezTo>
                  <a:lnTo>
                    <a:pt x="13499" y="197041"/>
                  </a:lnTo>
                  <a:cubicBezTo>
                    <a:pt x="6044" y="197041"/>
                    <a:pt x="0" y="190997"/>
                    <a:pt x="0" y="183542"/>
                  </a:cubicBezTo>
                  <a:lnTo>
                    <a:pt x="0" y="13499"/>
                  </a:lnTo>
                  <a:cubicBezTo>
                    <a:pt x="0" y="6044"/>
                    <a:pt x="6044" y="0"/>
                    <a:pt x="134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65768" cy="225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527" y="2420888"/>
            <a:ext cx="4432243" cy="1203344"/>
            <a:chOff x="0" y="0"/>
            <a:chExt cx="1881854" cy="510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1854" cy="510919"/>
            </a:xfrm>
            <a:custGeom>
              <a:avLst/>
              <a:gdLst/>
              <a:ahLst/>
              <a:cxnLst/>
              <a:rect r="r" b="b" t="t" l="l"/>
              <a:pathLst>
                <a:path h="510919" w="1881854">
                  <a:moveTo>
                    <a:pt x="20961" y="0"/>
                  </a:moveTo>
                  <a:lnTo>
                    <a:pt x="1860893" y="0"/>
                  </a:lnTo>
                  <a:cubicBezTo>
                    <a:pt x="1872469" y="0"/>
                    <a:pt x="1881854" y="9384"/>
                    <a:pt x="1881854" y="20961"/>
                  </a:cubicBezTo>
                  <a:lnTo>
                    <a:pt x="1881854" y="489958"/>
                  </a:lnTo>
                  <a:cubicBezTo>
                    <a:pt x="1881854" y="501535"/>
                    <a:pt x="1872469" y="510919"/>
                    <a:pt x="1860893" y="510919"/>
                  </a:cubicBezTo>
                  <a:lnTo>
                    <a:pt x="20961" y="510919"/>
                  </a:lnTo>
                  <a:cubicBezTo>
                    <a:pt x="9384" y="510919"/>
                    <a:pt x="0" y="501535"/>
                    <a:pt x="0" y="489958"/>
                  </a:cubicBezTo>
                  <a:lnTo>
                    <a:pt x="0" y="20961"/>
                  </a:lnTo>
                  <a:cubicBezTo>
                    <a:pt x="0" y="9384"/>
                    <a:pt x="9384" y="0"/>
                    <a:pt x="2096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81854" cy="539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799" y="3835876"/>
            <a:ext cx="4284007" cy="3152716"/>
            <a:chOff x="0" y="0"/>
            <a:chExt cx="1834203" cy="13498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4203" cy="1349839"/>
            </a:xfrm>
            <a:custGeom>
              <a:avLst/>
              <a:gdLst/>
              <a:ahLst/>
              <a:cxnLst/>
              <a:rect r="r" b="b" t="t" l="l"/>
              <a:pathLst>
                <a:path h="1349839" w="1834203">
                  <a:moveTo>
                    <a:pt x="14457" y="0"/>
                  </a:moveTo>
                  <a:lnTo>
                    <a:pt x="1819746" y="0"/>
                  </a:lnTo>
                  <a:cubicBezTo>
                    <a:pt x="1827730" y="0"/>
                    <a:pt x="1834203" y="6473"/>
                    <a:pt x="1834203" y="14457"/>
                  </a:cubicBezTo>
                  <a:lnTo>
                    <a:pt x="1834203" y="1335382"/>
                  </a:lnTo>
                  <a:cubicBezTo>
                    <a:pt x="1834203" y="1343367"/>
                    <a:pt x="1827730" y="1349839"/>
                    <a:pt x="1819746" y="1349839"/>
                  </a:cubicBezTo>
                  <a:lnTo>
                    <a:pt x="14457" y="1349839"/>
                  </a:lnTo>
                  <a:cubicBezTo>
                    <a:pt x="6473" y="1349839"/>
                    <a:pt x="0" y="1343367"/>
                    <a:pt x="0" y="1335382"/>
                  </a:cubicBezTo>
                  <a:lnTo>
                    <a:pt x="0" y="14457"/>
                  </a:lnTo>
                  <a:cubicBezTo>
                    <a:pt x="0" y="6473"/>
                    <a:pt x="6473" y="0"/>
                    <a:pt x="14457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34203" cy="1378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2527" y="593734"/>
            <a:ext cx="5123400" cy="1672906"/>
            <a:chOff x="0" y="0"/>
            <a:chExt cx="1835658" cy="5994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5658" cy="599406"/>
            </a:xfrm>
            <a:custGeom>
              <a:avLst/>
              <a:gdLst/>
              <a:ahLst/>
              <a:cxnLst/>
              <a:rect r="r" b="b" t="t" l="l"/>
              <a:pathLst>
                <a:path h="599406" w="1835658">
                  <a:moveTo>
                    <a:pt x="1835658" y="18133"/>
                  </a:moveTo>
                  <a:lnTo>
                    <a:pt x="1835658" y="581273"/>
                  </a:lnTo>
                  <a:cubicBezTo>
                    <a:pt x="1835658" y="586082"/>
                    <a:pt x="1833748" y="590695"/>
                    <a:pt x="1830347" y="594095"/>
                  </a:cubicBezTo>
                  <a:cubicBezTo>
                    <a:pt x="1826946" y="597496"/>
                    <a:pt x="1822334" y="599406"/>
                    <a:pt x="1817525" y="599406"/>
                  </a:cubicBezTo>
                  <a:lnTo>
                    <a:pt x="18133" y="599406"/>
                  </a:lnTo>
                  <a:cubicBezTo>
                    <a:pt x="13324" y="599406"/>
                    <a:pt x="8712" y="597496"/>
                    <a:pt x="5311" y="594095"/>
                  </a:cubicBezTo>
                  <a:cubicBezTo>
                    <a:pt x="1910" y="590695"/>
                    <a:pt x="0" y="586082"/>
                    <a:pt x="0" y="581273"/>
                  </a:cubicBezTo>
                  <a:lnTo>
                    <a:pt x="0" y="18133"/>
                  </a:lnTo>
                  <a:cubicBezTo>
                    <a:pt x="0" y="13324"/>
                    <a:pt x="1910" y="8712"/>
                    <a:pt x="5311" y="5311"/>
                  </a:cubicBezTo>
                  <a:cubicBezTo>
                    <a:pt x="8712" y="1910"/>
                    <a:pt x="13324" y="0"/>
                    <a:pt x="18133" y="0"/>
                  </a:cubicBezTo>
                  <a:lnTo>
                    <a:pt x="1817525" y="0"/>
                  </a:lnTo>
                  <a:cubicBezTo>
                    <a:pt x="1822334" y="0"/>
                    <a:pt x="1826946" y="1910"/>
                    <a:pt x="1830347" y="5311"/>
                  </a:cubicBezTo>
                  <a:cubicBezTo>
                    <a:pt x="1833748" y="8712"/>
                    <a:pt x="1835658" y="13324"/>
                    <a:pt x="1835658" y="18133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35658" cy="627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70992" y="599422"/>
            <a:ext cx="5041767" cy="2015826"/>
            <a:chOff x="0" y="0"/>
            <a:chExt cx="1839918" cy="7356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9918" cy="735646"/>
            </a:xfrm>
            <a:custGeom>
              <a:avLst/>
              <a:gdLst/>
              <a:ahLst/>
              <a:cxnLst/>
              <a:rect r="r" b="b" t="t" l="l"/>
              <a:pathLst>
                <a:path h="735646" w="1839918">
                  <a:moveTo>
                    <a:pt x="18427" y="0"/>
                  </a:moveTo>
                  <a:lnTo>
                    <a:pt x="1821492" y="0"/>
                  </a:lnTo>
                  <a:cubicBezTo>
                    <a:pt x="1831668" y="0"/>
                    <a:pt x="1839918" y="8250"/>
                    <a:pt x="1839918" y="18427"/>
                  </a:cubicBezTo>
                  <a:lnTo>
                    <a:pt x="1839918" y="717219"/>
                  </a:lnTo>
                  <a:cubicBezTo>
                    <a:pt x="1839918" y="727396"/>
                    <a:pt x="1831668" y="735646"/>
                    <a:pt x="1821492" y="735646"/>
                  </a:cubicBezTo>
                  <a:lnTo>
                    <a:pt x="18427" y="735646"/>
                  </a:lnTo>
                  <a:cubicBezTo>
                    <a:pt x="8250" y="735646"/>
                    <a:pt x="0" y="727396"/>
                    <a:pt x="0" y="717219"/>
                  </a:cubicBezTo>
                  <a:lnTo>
                    <a:pt x="0" y="18427"/>
                  </a:lnTo>
                  <a:cubicBezTo>
                    <a:pt x="0" y="8250"/>
                    <a:pt x="8250" y="0"/>
                    <a:pt x="18427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39918" cy="764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74741" y="640817"/>
            <a:ext cx="1427713" cy="1578198"/>
          </a:xfrm>
          <a:custGeom>
            <a:avLst/>
            <a:gdLst/>
            <a:ahLst/>
            <a:cxnLst/>
            <a:rect r="r" b="b" t="t" l="l"/>
            <a:pathLst>
              <a:path h="1578198" w="1427713">
                <a:moveTo>
                  <a:pt x="0" y="0"/>
                </a:moveTo>
                <a:lnTo>
                  <a:pt x="1427713" y="0"/>
                </a:lnTo>
                <a:lnTo>
                  <a:pt x="1427713" y="1578198"/>
                </a:lnTo>
                <a:lnTo>
                  <a:pt x="0" y="15781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21" t="-88502" r="-3421" b="-10889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597480" y="607433"/>
            <a:ext cx="1893113" cy="226424"/>
            <a:chOff x="0" y="0"/>
            <a:chExt cx="678262" cy="811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8262" cy="81123"/>
            </a:xfrm>
            <a:custGeom>
              <a:avLst/>
              <a:gdLst/>
              <a:ahLst/>
              <a:cxnLst/>
              <a:rect r="r" b="b" t="t" l="l"/>
              <a:pathLst>
                <a:path h="81123" w="678262">
                  <a:moveTo>
                    <a:pt x="16358" y="0"/>
                  </a:moveTo>
                  <a:lnTo>
                    <a:pt x="661903" y="0"/>
                  </a:lnTo>
                  <a:cubicBezTo>
                    <a:pt x="666242" y="0"/>
                    <a:pt x="670403" y="1723"/>
                    <a:pt x="673470" y="4791"/>
                  </a:cubicBezTo>
                  <a:cubicBezTo>
                    <a:pt x="676538" y="7859"/>
                    <a:pt x="678262" y="12020"/>
                    <a:pt x="678262" y="16358"/>
                  </a:cubicBezTo>
                  <a:lnTo>
                    <a:pt x="678262" y="64765"/>
                  </a:lnTo>
                  <a:cubicBezTo>
                    <a:pt x="678262" y="73799"/>
                    <a:pt x="670938" y="81123"/>
                    <a:pt x="661903" y="81123"/>
                  </a:cubicBezTo>
                  <a:lnTo>
                    <a:pt x="16358" y="81123"/>
                  </a:lnTo>
                  <a:cubicBezTo>
                    <a:pt x="7324" y="81123"/>
                    <a:pt x="0" y="73799"/>
                    <a:pt x="0" y="64765"/>
                  </a:cubicBezTo>
                  <a:lnTo>
                    <a:pt x="0" y="16358"/>
                  </a:lnTo>
                  <a:cubicBezTo>
                    <a:pt x="0" y="7324"/>
                    <a:pt x="7324" y="0"/>
                    <a:pt x="1635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78262" cy="1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00468" y="790336"/>
            <a:ext cx="1098111" cy="169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5"/>
              </a:lnSpc>
            </a:pPr>
            <a:r>
              <a:rPr lang="en-US" sz="77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Quantity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odium per serving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Serving size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Servings per container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 </a:t>
            </a:r>
          </a:p>
          <a:p>
            <a:pPr algn="just">
              <a:lnSpc>
                <a:spcPts val="664"/>
              </a:lnSpc>
              <a:spcBef>
                <a:spcPct val="0"/>
              </a:spcBef>
            </a:pP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Atomic masses</a:t>
            </a:r>
          </a:p>
          <a:p>
            <a:pPr algn="just">
              <a:lnSpc>
                <a:spcPts val="577"/>
              </a:lnSpc>
              <a:spcBef>
                <a:spcPct val="0"/>
              </a:spcBef>
            </a:pPr>
          </a:p>
          <a:p>
            <a:pPr algn="just">
              <a:lnSpc>
                <a:spcPts val="1552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Avogadro constant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66926" y="800271"/>
            <a:ext cx="1149611" cy="169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b="true" sz="7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</a:t>
            </a:r>
            <a:r>
              <a:rPr lang="en-US" b="true" sz="7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580 mg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1.5 g (1/4 tsp)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466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NaCl </a:t>
            </a:r>
          </a:p>
          <a:p>
            <a:pPr algn="just">
              <a:lnSpc>
                <a:spcPts val="1358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 22.990 g/mol</a:t>
            </a:r>
          </a:p>
          <a:p>
            <a:pPr algn="just">
              <a:lnSpc>
                <a:spcPts val="1358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 35.453 g/mol</a:t>
            </a:r>
          </a:p>
          <a:p>
            <a:pPr algn="just">
              <a:lnSpc>
                <a:spcPts val="388"/>
              </a:lnSpc>
              <a:spcBef>
                <a:spcPct val="0"/>
              </a:spcBef>
            </a:pPr>
            <a:r>
              <a:rPr lang="en-US" sz="1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1552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6.022 140 76 × 10²³ mol⁻¹</a:t>
            </a:r>
          </a:p>
        </p:txBody>
      </p:sp>
      <p:sp>
        <p:nvSpPr>
          <p:cNvPr name="AutoShape 23" id="23"/>
          <p:cNvSpPr/>
          <p:nvPr/>
        </p:nvSpPr>
        <p:spPr>
          <a:xfrm>
            <a:off x="5657472" y="850442"/>
            <a:ext cx="0" cy="169728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6832346" y="850442"/>
            <a:ext cx="0" cy="169728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116550" y="850442"/>
            <a:ext cx="0" cy="169728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174415" y="800271"/>
            <a:ext cx="1270131" cy="171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5"/>
              </a:lnSpc>
              <a:spcBef>
                <a:spcPct val="0"/>
              </a:spcBef>
            </a:pPr>
            <a:r>
              <a:rPr lang="en-US" b="true" sz="7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</a:t>
            </a:r>
            <a:r>
              <a:rPr lang="en-US" b="true" sz="7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urce</a:t>
            </a:r>
          </a:p>
          <a:p>
            <a:pPr algn="l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label </a:t>
            </a:r>
          </a:p>
          <a:p>
            <a:pPr algn="l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label </a:t>
            </a:r>
          </a:p>
          <a:p>
            <a:pPr algn="l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label </a:t>
            </a:r>
          </a:p>
          <a:p>
            <a:pPr algn="l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PubChem </a:t>
            </a:r>
          </a:p>
          <a:p>
            <a:pPr algn="l">
              <a:lnSpc>
                <a:spcPts val="441"/>
              </a:lnSpc>
              <a:spcBef>
                <a:spcPct val="0"/>
              </a:spcBef>
            </a:pPr>
          </a:p>
          <a:p>
            <a:pPr algn="l">
              <a:lnSpc>
                <a:spcPts val="978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Science Notes p</a:t>
            </a: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eriodic table (2017)</a:t>
            </a:r>
          </a:p>
          <a:p>
            <a:pPr algn="l">
              <a:lnSpc>
                <a:spcPts val="441"/>
              </a:lnSpc>
              <a:spcBef>
                <a:spcPct val="0"/>
              </a:spcBef>
            </a:pPr>
            <a:r>
              <a:rPr lang="en-US" sz="19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88"/>
              </a:lnSpc>
              <a:spcBef>
                <a:spcPct val="0"/>
              </a:spcBef>
            </a:pPr>
          </a:p>
          <a:p>
            <a:pPr algn="l">
              <a:lnSpc>
                <a:spcPts val="1552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BIPM (2019) 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502410" y="850442"/>
            <a:ext cx="0" cy="168944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9536825" y="800271"/>
            <a:ext cx="580403" cy="167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b="true" sz="77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Precision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s.f.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s.f.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Exact </a:t>
            </a: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Exact </a:t>
            </a:r>
          </a:p>
          <a:p>
            <a:pPr algn="just">
              <a:lnSpc>
                <a:spcPts val="892"/>
              </a:lnSpc>
              <a:spcBef>
                <a:spcPct val="0"/>
              </a:spcBef>
            </a:pPr>
          </a:p>
          <a:p>
            <a:pPr algn="just">
              <a:lnSpc>
                <a:spcPts val="1785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limiting </a:t>
            </a:r>
          </a:p>
          <a:p>
            <a:pPr algn="just">
              <a:lnSpc>
                <a:spcPts val="191"/>
              </a:lnSpc>
              <a:spcBef>
                <a:spcPct val="0"/>
              </a:spcBef>
            </a:pPr>
          </a:p>
          <a:p>
            <a:pPr algn="just">
              <a:lnSpc>
                <a:spcPts val="1552"/>
              </a:lnSpc>
              <a:spcBef>
                <a:spcPct val="0"/>
              </a:spcBef>
            </a:pPr>
            <a:r>
              <a:rPr lang="en-US" sz="7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Exact</a:t>
            </a:r>
          </a:p>
        </p:txBody>
      </p:sp>
      <p:sp>
        <p:nvSpPr>
          <p:cNvPr name="AutoShape 29" id="29"/>
          <p:cNvSpPr/>
          <p:nvPr/>
        </p:nvSpPr>
        <p:spPr>
          <a:xfrm flipV="true">
            <a:off x="5653634" y="842603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10365538" y="842603"/>
            <a:ext cx="0" cy="169728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5653626" y="2539891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5649514" y="2288819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5653642" y="1952745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5653650" y="1729220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5649506" y="1508810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5653657" y="1288400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V="true">
            <a:off x="5653619" y="1044529"/>
            <a:ext cx="4707110" cy="783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5597480" y="613693"/>
            <a:ext cx="1872939" cy="19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9"/>
              </a:lnSpc>
              <a:spcBef>
                <a:spcPct val="0"/>
              </a:spcBef>
            </a:pPr>
            <a:r>
              <a:rPr lang="en-US" b="true" sz="117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B: Base quantitative data</a:t>
            </a:r>
          </a:p>
        </p:txBody>
      </p:sp>
      <p:sp>
        <p:nvSpPr>
          <p:cNvPr name="AutoShape 39" id="39"/>
          <p:cNvSpPr/>
          <p:nvPr/>
        </p:nvSpPr>
        <p:spPr>
          <a:xfrm flipH="true">
            <a:off x="246599" y="2593982"/>
            <a:ext cx="0" cy="8692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025109" y="2590068"/>
            <a:ext cx="0" cy="8692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1738885" y="2590068"/>
            <a:ext cx="0" cy="8692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3399025" y="2593982"/>
            <a:ext cx="0" cy="869224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245615" y="2590068"/>
            <a:ext cx="412506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203640" y="2333315"/>
            <a:ext cx="1492286" cy="182576"/>
            <a:chOff x="0" y="0"/>
            <a:chExt cx="534654" cy="6541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4654" cy="65413"/>
            </a:xfrm>
            <a:custGeom>
              <a:avLst/>
              <a:gdLst/>
              <a:ahLst/>
              <a:cxnLst/>
              <a:rect r="r" b="b" t="t" l="l"/>
              <a:pathLst>
                <a:path h="65413" w="534654">
                  <a:moveTo>
                    <a:pt x="20752" y="0"/>
                  </a:moveTo>
                  <a:lnTo>
                    <a:pt x="513902" y="0"/>
                  </a:lnTo>
                  <a:cubicBezTo>
                    <a:pt x="525363" y="0"/>
                    <a:pt x="534654" y="9291"/>
                    <a:pt x="534654" y="20752"/>
                  </a:cubicBezTo>
                  <a:lnTo>
                    <a:pt x="534654" y="44661"/>
                  </a:lnTo>
                  <a:cubicBezTo>
                    <a:pt x="534654" y="50165"/>
                    <a:pt x="532468" y="55443"/>
                    <a:pt x="528576" y="59335"/>
                  </a:cubicBezTo>
                  <a:cubicBezTo>
                    <a:pt x="524684" y="63227"/>
                    <a:pt x="519406" y="65413"/>
                    <a:pt x="513902" y="65413"/>
                  </a:cubicBezTo>
                  <a:lnTo>
                    <a:pt x="20752" y="65413"/>
                  </a:lnTo>
                  <a:cubicBezTo>
                    <a:pt x="15248" y="65413"/>
                    <a:pt x="9970" y="63227"/>
                    <a:pt x="6078" y="59335"/>
                  </a:cubicBezTo>
                  <a:cubicBezTo>
                    <a:pt x="2186" y="55443"/>
                    <a:pt x="0" y="50165"/>
                    <a:pt x="0" y="44661"/>
                  </a:cubicBezTo>
                  <a:lnTo>
                    <a:pt x="0" y="20752"/>
                  </a:lnTo>
                  <a:cubicBezTo>
                    <a:pt x="0" y="15248"/>
                    <a:pt x="2186" y="9970"/>
                    <a:pt x="6078" y="6078"/>
                  </a:cubicBezTo>
                  <a:cubicBezTo>
                    <a:pt x="9970" y="2186"/>
                    <a:pt x="15248" y="0"/>
                    <a:pt x="2075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534654" cy="93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 flipH="true">
            <a:off x="2605586" y="2590103"/>
            <a:ext cx="0" cy="86918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245631" y="3459292"/>
            <a:ext cx="4125048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>
            <a:off x="241365" y="3234241"/>
            <a:ext cx="4129315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245639" y="3009103"/>
            <a:ext cx="41250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245599" y="2840931"/>
            <a:ext cx="41250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4370679" y="2595809"/>
            <a:ext cx="0" cy="863483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5437865" y="3035924"/>
            <a:ext cx="1343523" cy="337626"/>
            <a:chOff x="0" y="0"/>
            <a:chExt cx="481355" cy="1209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1355" cy="120964"/>
            </a:xfrm>
            <a:custGeom>
              <a:avLst/>
              <a:gdLst/>
              <a:ahLst/>
              <a:cxnLst/>
              <a:rect r="r" b="b" t="t" l="l"/>
              <a:pathLst>
                <a:path h="120964" w="481355">
                  <a:moveTo>
                    <a:pt x="46099" y="0"/>
                  </a:moveTo>
                  <a:lnTo>
                    <a:pt x="435256" y="0"/>
                  </a:lnTo>
                  <a:cubicBezTo>
                    <a:pt x="460716" y="0"/>
                    <a:pt x="481355" y="20639"/>
                    <a:pt x="481355" y="46099"/>
                  </a:cubicBezTo>
                  <a:lnTo>
                    <a:pt x="481355" y="74865"/>
                  </a:lnTo>
                  <a:cubicBezTo>
                    <a:pt x="481355" y="100325"/>
                    <a:pt x="460716" y="120964"/>
                    <a:pt x="435256" y="120964"/>
                  </a:cubicBezTo>
                  <a:lnTo>
                    <a:pt x="46099" y="120964"/>
                  </a:lnTo>
                  <a:cubicBezTo>
                    <a:pt x="20639" y="120964"/>
                    <a:pt x="0" y="100325"/>
                    <a:pt x="0" y="74865"/>
                  </a:cubicBezTo>
                  <a:lnTo>
                    <a:pt x="0" y="46099"/>
                  </a:lnTo>
                  <a:cubicBezTo>
                    <a:pt x="0" y="20639"/>
                    <a:pt x="20639" y="0"/>
                    <a:pt x="46099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81355" cy="149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56" id="56"/>
          <p:cNvSpPr/>
          <p:nvPr/>
        </p:nvSpPr>
        <p:spPr>
          <a:xfrm>
            <a:off x="6781388" y="3204737"/>
            <a:ext cx="40498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>
            <a:off x="10105985" y="3213248"/>
            <a:ext cx="364867" cy="375467"/>
          </a:xfrm>
          <a:custGeom>
            <a:avLst/>
            <a:gdLst/>
            <a:ahLst/>
            <a:cxnLst/>
            <a:rect r="r" b="b" t="t" l="l"/>
            <a:pathLst>
              <a:path h="375467" w="364867">
                <a:moveTo>
                  <a:pt x="0" y="0"/>
                </a:moveTo>
                <a:lnTo>
                  <a:pt x="182434" y="0"/>
                </a:lnTo>
                <a:cubicBezTo>
                  <a:pt x="283189" y="0"/>
                  <a:pt x="364867" y="81679"/>
                  <a:pt x="364867" y="182434"/>
                </a:cubicBezTo>
                <a:lnTo>
                  <a:pt x="364867" y="244235"/>
                </a:lnTo>
                <a:cubicBezTo>
                  <a:pt x="364867" y="316713"/>
                  <a:pt x="306111" y="375468"/>
                  <a:pt x="233633" y="375468"/>
                </a:cubicBezTo>
                <a:lnTo>
                  <a:pt x="102400" y="375468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V="true">
            <a:off x="8024842" y="3915302"/>
            <a:ext cx="41080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9" id="59"/>
          <p:cNvSpPr txBox="true"/>
          <p:nvPr/>
        </p:nvSpPr>
        <p:spPr>
          <a:xfrm rot="0">
            <a:off x="5905237" y="3806717"/>
            <a:ext cx="211960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Na atom per formula unit</a:t>
            </a:r>
          </a:p>
        </p:txBody>
      </p:sp>
      <p:sp>
        <p:nvSpPr>
          <p:cNvPr name="Freeform 60" id="60"/>
          <p:cNvSpPr/>
          <p:nvPr/>
        </p:nvSpPr>
        <p:spPr>
          <a:xfrm>
            <a:off x="4616054" y="3588716"/>
            <a:ext cx="1289183" cy="326587"/>
          </a:xfrm>
          <a:custGeom>
            <a:avLst/>
            <a:gdLst/>
            <a:ahLst/>
            <a:cxnLst/>
            <a:rect r="r" b="b" t="t" l="l"/>
            <a:pathLst>
              <a:path h="326587" w="1289183">
                <a:moveTo>
                  <a:pt x="153909" y="0"/>
                </a:moveTo>
                <a:lnTo>
                  <a:pt x="76955" y="0"/>
                </a:lnTo>
                <a:cubicBezTo>
                  <a:pt x="34454" y="0"/>
                  <a:pt x="0" y="34454"/>
                  <a:pt x="0" y="76954"/>
                </a:cubicBezTo>
                <a:lnTo>
                  <a:pt x="0" y="163293"/>
                </a:lnTo>
                <a:cubicBezTo>
                  <a:pt x="0" y="253478"/>
                  <a:pt x="73109" y="326586"/>
                  <a:pt x="163294" y="326586"/>
                </a:cubicBezTo>
                <a:lnTo>
                  <a:pt x="1289183" y="326586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8435649" y="3723302"/>
            <a:ext cx="2028353" cy="384002"/>
            <a:chOff x="0" y="0"/>
            <a:chExt cx="726715" cy="1375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26715" cy="137580"/>
            </a:xfrm>
            <a:custGeom>
              <a:avLst/>
              <a:gdLst/>
              <a:ahLst/>
              <a:cxnLst/>
              <a:rect r="r" b="b" t="t" l="l"/>
              <a:pathLst>
                <a:path h="137580" w="726715">
                  <a:moveTo>
                    <a:pt x="45802" y="0"/>
                  </a:moveTo>
                  <a:lnTo>
                    <a:pt x="680913" y="0"/>
                  </a:lnTo>
                  <a:cubicBezTo>
                    <a:pt x="693060" y="0"/>
                    <a:pt x="704710" y="4826"/>
                    <a:pt x="713300" y="13415"/>
                  </a:cubicBezTo>
                  <a:cubicBezTo>
                    <a:pt x="721890" y="22005"/>
                    <a:pt x="726715" y="33655"/>
                    <a:pt x="726715" y="45802"/>
                  </a:cubicBezTo>
                  <a:lnTo>
                    <a:pt x="726715" y="91777"/>
                  </a:lnTo>
                  <a:cubicBezTo>
                    <a:pt x="726715" y="117073"/>
                    <a:pt x="706209" y="137580"/>
                    <a:pt x="680913" y="137580"/>
                  </a:cubicBezTo>
                  <a:lnTo>
                    <a:pt x="45802" y="137580"/>
                  </a:lnTo>
                  <a:cubicBezTo>
                    <a:pt x="33655" y="137580"/>
                    <a:pt x="22005" y="132754"/>
                    <a:pt x="13415" y="124164"/>
                  </a:cubicBezTo>
                  <a:cubicBezTo>
                    <a:pt x="4826" y="115575"/>
                    <a:pt x="0" y="103925"/>
                    <a:pt x="0" y="91777"/>
                  </a:cubicBezTo>
                  <a:lnTo>
                    <a:pt x="0" y="45802"/>
                  </a:lnTo>
                  <a:cubicBezTo>
                    <a:pt x="0" y="33655"/>
                    <a:pt x="4826" y="22005"/>
                    <a:pt x="13415" y="13415"/>
                  </a:cubicBezTo>
                  <a:cubicBezTo>
                    <a:pt x="22005" y="4826"/>
                    <a:pt x="33655" y="0"/>
                    <a:pt x="4580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26715" cy="16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769963" y="3436673"/>
            <a:ext cx="2278287" cy="304087"/>
            <a:chOff x="0" y="0"/>
            <a:chExt cx="816261" cy="1089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6261" cy="108948"/>
            </a:xfrm>
            <a:custGeom>
              <a:avLst/>
              <a:gdLst/>
              <a:ahLst/>
              <a:cxnLst/>
              <a:rect r="r" b="b" t="t" l="l"/>
              <a:pathLst>
                <a:path h="108948" w="816261">
                  <a:moveTo>
                    <a:pt x="27185" y="0"/>
                  </a:moveTo>
                  <a:lnTo>
                    <a:pt x="789076" y="0"/>
                  </a:lnTo>
                  <a:cubicBezTo>
                    <a:pt x="804090" y="0"/>
                    <a:pt x="816261" y="12171"/>
                    <a:pt x="816261" y="27185"/>
                  </a:cubicBezTo>
                  <a:lnTo>
                    <a:pt x="816261" y="81763"/>
                  </a:lnTo>
                  <a:cubicBezTo>
                    <a:pt x="816261" y="96777"/>
                    <a:pt x="804090" y="108948"/>
                    <a:pt x="789076" y="108948"/>
                  </a:cubicBezTo>
                  <a:lnTo>
                    <a:pt x="27185" y="108948"/>
                  </a:lnTo>
                  <a:cubicBezTo>
                    <a:pt x="12171" y="108948"/>
                    <a:pt x="0" y="96777"/>
                    <a:pt x="0" y="81763"/>
                  </a:cubicBezTo>
                  <a:lnTo>
                    <a:pt x="0" y="27185"/>
                  </a:lnTo>
                  <a:cubicBezTo>
                    <a:pt x="0" y="12171"/>
                    <a:pt x="12171" y="0"/>
                    <a:pt x="2718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16261" cy="137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67" id="67"/>
          <p:cNvSpPr/>
          <p:nvPr/>
        </p:nvSpPr>
        <p:spPr>
          <a:xfrm flipH="true">
            <a:off x="7048250" y="3588716"/>
            <a:ext cx="28062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8" id="68"/>
          <p:cNvSpPr/>
          <p:nvPr/>
        </p:nvSpPr>
        <p:spPr>
          <a:xfrm>
            <a:off x="8279190" y="3213248"/>
            <a:ext cx="34826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9" id="69"/>
          <p:cNvGrpSpPr/>
          <p:nvPr/>
        </p:nvGrpSpPr>
        <p:grpSpPr>
          <a:xfrm rot="0">
            <a:off x="8627457" y="3061205"/>
            <a:ext cx="1478527" cy="304087"/>
            <a:chOff x="0" y="0"/>
            <a:chExt cx="529725" cy="1089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9725" cy="108948"/>
            </a:xfrm>
            <a:custGeom>
              <a:avLst/>
              <a:gdLst/>
              <a:ahLst/>
              <a:cxnLst/>
              <a:rect r="r" b="b" t="t" l="l"/>
              <a:pathLst>
                <a:path h="108948" w="529725">
                  <a:moveTo>
                    <a:pt x="54474" y="0"/>
                  </a:moveTo>
                  <a:lnTo>
                    <a:pt x="475251" y="0"/>
                  </a:lnTo>
                  <a:cubicBezTo>
                    <a:pt x="489698" y="0"/>
                    <a:pt x="503554" y="5739"/>
                    <a:pt x="513770" y="15955"/>
                  </a:cubicBezTo>
                  <a:cubicBezTo>
                    <a:pt x="523985" y="26171"/>
                    <a:pt x="529725" y="40027"/>
                    <a:pt x="529725" y="54474"/>
                  </a:cubicBezTo>
                  <a:lnTo>
                    <a:pt x="529725" y="54474"/>
                  </a:lnTo>
                  <a:cubicBezTo>
                    <a:pt x="529725" y="84559"/>
                    <a:pt x="505336" y="108948"/>
                    <a:pt x="475251" y="108948"/>
                  </a:cubicBezTo>
                  <a:lnTo>
                    <a:pt x="54474" y="108948"/>
                  </a:lnTo>
                  <a:cubicBezTo>
                    <a:pt x="40027" y="108948"/>
                    <a:pt x="26171" y="103209"/>
                    <a:pt x="15955" y="92993"/>
                  </a:cubicBezTo>
                  <a:cubicBezTo>
                    <a:pt x="5739" y="82777"/>
                    <a:pt x="0" y="68921"/>
                    <a:pt x="0" y="54474"/>
                  </a:cubicBezTo>
                  <a:lnTo>
                    <a:pt x="0" y="54474"/>
                  </a:lnTo>
                  <a:cubicBezTo>
                    <a:pt x="0" y="40027"/>
                    <a:pt x="5739" y="26171"/>
                    <a:pt x="15955" y="15955"/>
                  </a:cubicBezTo>
                  <a:cubicBezTo>
                    <a:pt x="26171" y="5739"/>
                    <a:pt x="40027" y="0"/>
                    <a:pt x="5447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529725" cy="137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11342" y="3678251"/>
            <a:ext cx="2033069" cy="255437"/>
            <a:chOff x="0" y="0"/>
            <a:chExt cx="870461" cy="1093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0461" cy="109366"/>
            </a:xfrm>
            <a:custGeom>
              <a:avLst/>
              <a:gdLst/>
              <a:ahLst/>
              <a:cxnLst/>
              <a:rect r="r" b="b" t="t" l="l"/>
              <a:pathLst>
                <a:path h="109366" w="870461">
                  <a:moveTo>
                    <a:pt x="15232" y="0"/>
                  </a:moveTo>
                  <a:lnTo>
                    <a:pt x="855229" y="0"/>
                  </a:lnTo>
                  <a:cubicBezTo>
                    <a:pt x="859269" y="0"/>
                    <a:pt x="863143" y="1605"/>
                    <a:pt x="865999" y="4461"/>
                  </a:cubicBezTo>
                  <a:cubicBezTo>
                    <a:pt x="868856" y="7318"/>
                    <a:pt x="870461" y="11192"/>
                    <a:pt x="870461" y="15232"/>
                  </a:cubicBezTo>
                  <a:lnTo>
                    <a:pt x="870461" y="94134"/>
                  </a:lnTo>
                  <a:cubicBezTo>
                    <a:pt x="870461" y="98173"/>
                    <a:pt x="868856" y="102048"/>
                    <a:pt x="865999" y="104904"/>
                  </a:cubicBezTo>
                  <a:cubicBezTo>
                    <a:pt x="863143" y="107761"/>
                    <a:pt x="859269" y="109366"/>
                    <a:pt x="855229" y="109366"/>
                  </a:cubicBezTo>
                  <a:lnTo>
                    <a:pt x="15232" y="109366"/>
                  </a:lnTo>
                  <a:cubicBezTo>
                    <a:pt x="11192" y="109366"/>
                    <a:pt x="7318" y="107761"/>
                    <a:pt x="4461" y="104904"/>
                  </a:cubicBezTo>
                  <a:cubicBezTo>
                    <a:pt x="1605" y="102048"/>
                    <a:pt x="0" y="98173"/>
                    <a:pt x="0" y="94134"/>
                  </a:cubicBezTo>
                  <a:lnTo>
                    <a:pt x="0" y="15232"/>
                  </a:lnTo>
                  <a:cubicBezTo>
                    <a:pt x="0" y="11192"/>
                    <a:pt x="1605" y="7318"/>
                    <a:pt x="4461" y="4461"/>
                  </a:cubicBezTo>
                  <a:cubicBezTo>
                    <a:pt x="7318" y="1605"/>
                    <a:pt x="11192" y="0"/>
                    <a:pt x="1523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870461" cy="137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201165" y="3964070"/>
            <a:ext cx="4238641" cy="19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Molar mass of NaCl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1(22.990) + 1(35.453) = 58.443 g/mol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01165" y="4216165"/>
            <a:ext cx="4238641" cy="28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Label bridge: sodium → NaCl in the container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580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mg Na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(1 g/1000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mg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× (58.443 g NaCl/22.990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Na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1.4744 g NaCl per serving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1.4744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g/serving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466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servings 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= 687.08 g → 6.9 × 10² g NaCl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55799" y="7073949"/>
            <a:ext cx="4097350" cy="360501"/>
            <a:chOff x="0" y="0"/>
            <a:chExt cx="1838411" cy="16175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38411" cy="161751"/>
            </a:xfrm>
            <a:custGeom>
              <a:avLst/>
              <a:gdLst/>
              <a:ahLst/>
              <a:cxnLst/>
              <a:rect r="r" b="b" t="t" l="l"/>
              <a:pathLst>
                <a:path h="161751" w="1838411">
                  <a:moveTo>
                    <a:pt x="15116" y="0"/>
                  </a:moveTo>
                  <a:lnTo>
                    <a:pt x="1823295" y="0"/>
                  </a:lnTo>
                  <a:cubicBezTo>
                    <a:pt x="1827305" y="0"/>
                    <a:pt x="1831149" y="1593"/>
                    <a:pt x="1833984" y="4427"/>
                  </a:cubicBezTo>
                  <a:cubicBezTo>
                    <a:pt x="1836819" y="7262"/>
                    <a:pt x="1838411" y="11107"/>
                    <a:pt x="1838411" y="15116"/>
                  </a:cubicBezTo>
                  <a:lnTo>
                    <a:pt x="1838411" y="146635"/>
                  </a:lnTo>
                  <a:cubicBezTo>
                    <a:pt x="1838411" y="154983"/>
                    <a:pt x="1831644" y="161751"/>
                    <a:pt x="1823295" y="161751"/>
                  </a:cubicBezTo>
                  <a:lnTo>
                    <a:pt x="15116" y="161751"/>
                  </a:lnTo>
                  <a:cubicBezTo>
                    <a:pt x="11107" y="161751"/>
                    <a:pt x="7262" y="160158"/>
                    <a:pt x="4427" y="157324"/>
                  </a:cubicBezTo>
                  <a:cubicBezTo>
                    <a:pt x="1593" y="154489"/>
                    <a:pt x="0" y="150644"/>
                    <a:pt x="0" y="146635"/>
                  </a:cubicBezTo>
                  <a:lnTo>
                    <a:pt x="0" y="15116"/>
                  </a:lnTo>
                  <a:cubicBezTo>
                    <a:pt x="0" y="11107"/>
                    <a:pt x="1593" y="7262"/>
                    <a:pt x="4427" y="4427"/>
                  </a:cubicBezTo>
                  <a:cubicBezTo>
                    <a:pt x="7262" y="1593"/>
                    <a:pt x="11107" y="0"/>
                    <a:pt x="1511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838411" cy="190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476843" y="4334142"/>
            <a:ext cx="5119490" cy="749285"/>
            <a:chOff x="0" y="0"/>
            <a:chExt cx="1834203" cy="26845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834203" cy="268453"/>
            </a:xfrm>
            <a:custGeom>
              <a:avLst/>
              <a:gdLst/>
              <a:ahLst/>
              <a:cxnLst/>
              <a:rect r="r" b="b" t="t" l="l"/>
              <a:pathLst>
                <a:path h="268453" w="1834203">
                  <a:moveTo>
                    <a:pt x="12098" y="0"/>
                  </a:moveTo>
                  <a:lnTo>
                    <a:pt x="1822105" y="0"/>
                  </a:lnTo>
                  <a:cubicBezTo>
                    <a:pt x="1825314" y="0"/>
                    <a:pt x="1828391" y="1275"/>
                    <a:pt x="1830660" y="3543"/>
                  </a:cubicBezTo>
                  <a:cubicBezTo>
                    <a:pt x="1832928" y="5812"/>
                    <a:pt x="1834203" y="8889"/>
                    <a:pt x="1834203" y="12098"/>
                  </a:cubicBezTo>
                  <a:lnTo>
                    <a:pt x="1834203" y="256355"/>
                  </a:lnTo>
                  <a:cubicBezTo>
                    <a:pt x="1834203" y="259563"/>
                    <a:pt x="1832928" y="262640"/>
                    <a:pt x="1830660" y="264909"/>
                  </a:cubicBezTo>
                  <a:cubicBezTo>
                    <a:pt x="1828391" y="267178"/>
                    <a:pt x="1825314" y="268453"/>
                    <a:pt x="1822105" y="268453"/>
                  </a:cubicBezTo>
                  <a:lnTo>
                    <a:pt x="12098" y="268453"/>
                  </a:lnTo>
                  <a:cubicBezTo>
                    <a:pt x="8889" y="268453"/>
                    <a:pt x="5812" y="267178"/>
                    <a:pt x="3543" y="264909"/>
                  </a:cubicBezTo>
                  <a:cubicBezTo>
                    <a:pt x="1275" y="262640"/>
                    <a:pt x="0" y="259563"/>
                    <a:pt x="0" y="256355"/>
                  </a:cubicBezTo>
                  <a:lnTo>
                    <a:pt x="0" y="12098"/>
                  </a:lnTo>
                  <a:cubicBezTo>
                    <a:pt x="0" y="8889"/>
                    <a:pt x="1275" y="5812"/>
                    <a:pt x="3543" y="3543"/>
                  </a:cubicBezTo>
                  <a:cubicBezTo>
                    <a:pt x="5812" y="1275"/>
                    <a:pt x="8889" y="0"/>
                    <a:pt x="1209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834203" cy="297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532852" y="4192913"/>
            <a:ext cx="3158414" cy="282458"/>
            <a:chOff x="0" y="0"/>
            <a:chExt cx="1131592" cy="1011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31592" cy="101199"/>
            </a:xfrm>
            <a:custGeom>
              <a:avLst/>
              <a:gdLst/>
              <a:ahLst/>
              <a:cxnLst/>
              <a:rect r="r" b="b" t="t" l="l"/>
              <a:pathLst>
                <a:path h="101199" w="1131592">
                  <a:moveTo>
                    <a:pt x="19610" y="0"/>
                  </a:moveTo>
                  <a:lnTo>
                    <a:pt x="1111982" y="0"/>
                  </a:lnTo>
                  <a:cubicBezTo>
                    <a:pt x="1117183" y="0"/>
                    <a:pt x="1122171" y="2066"/>
                    <a:pt x="1125848" y="5744"/>
                  </a:cubicBezTo>
                  <a:cubicBezTo>
                    <a:pt x="1129526" y="9421"/>
                    <a:pt x="1131592" y="14409"/>
                    <a:pt x="1131592" y="19610"/>
                  </a:cubicBezTo>
                  <a:lnTo>
                    <a:pt x="1131592" y="81589"/>
                  </a:lnTo>
                  <a:cubicBezTo>
                    <a:pt x="1131592" y="86790"/>
                    <a:pt x="1129526" y="91778"/>
                    <a:pt x="1125848" y="95455"/>
                  </a:cubicBezTo>
                  <a:cubicBezTo>
                    <a:pt x="1122171" y="99133"/>
                    <a:pt x="1117183" y="101199"/>
                    <a:pt x="1111982" y="101199"/>
                  </a:cubicBezTo>
                  <a:lnTo>
                    <a:pt x="19610" y="101199"/>
                  </a:lnTo>
                  <a:cubicBezTo>
                    <a:pt x="14409" y="101199"/>
                    <a:pt x="9421" y="99133"/>
                    <a:pt x="5744" y="95455"/>
                  </a:cubicBezTo>
                  <a:cubicBezTo>
                    <a:pt x="2066" y="91778"/>
                    <a:pt x="0" y="86790"/>
                    <a:pt x="0" y="81589"/>
                  </a:cubicBezTo>
                  <a:lnTo>
                    <a:pt x="0" y="19610"/>
                  </a:lnTo>
                  <a:cubicBezTo>
                    <a:pt x="0" y="14409"/>
                    <a:pt x="2066" y="9421"/>
                    <a:pt x="5744" y="5744"/>
                  </a:cubicBezTo>
                  <a:cubicBezTo>
                    <a:pt x="9421" y="2066"/>
                    <a:pt x="14409" y="0"/>
                    <a:pt x="1961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131592" cy="129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76843" y="5414113"/>
            <a:ext cx="5119490" cy="850167"/>
            <a:chOff x="0" y="0"/>
            <a:chExt cx="1834203" cy="30459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834203" cy="304596"/>
            </a:xfrm>
            <a:custGeom>
              <a:avLst/>
              <a:gdLst/>
              <a:ahLst/>
              <a:cxnLst/>
              <a:rect r="r" b="b" t="t" l="l"/>
              <a:pathLst>
                <a:path h="304596" w="1834203">
                  <a:moveTo>
                    <a:pt x="12098" y="0"/>
                  </a:moveTo>
                  <a:lnTo>
                    <a:pt x="1822105" y="0"/>
                  </a:lnTo>
                  <a:cubicBezTo>
                    <a:pt x="1825314" y="0"/>
                    <a:pt x="1828391" y="1275"/>
                    <a:pt x="1830660" y="3543"/>
                  </a:cubicBezTo>
                  <a:cubicBezTo>
                    <a:pt x="1832928" y="5812"/>
                    <a:pt x="1834203" y="8889"/>
                    <a:pt x="1834203" y="12098"/>
                  </a:cubicBezTo>
                  <a:lnTo>
                    <a:pt x="1834203" y="292498"/>
                  </a:lnTo>
                  <a:cubicBezTo>
                    <a:pt x="1834203" y="299180"/>
                    <a:pt x="1828787" y="304596"/>
                    <a:pt x="1822105" y="304596"/>
                  </a:cubicBezTo>
                  <a:lnTo>
                    <a:pt x="12098" y="304596"/>
                  </a:lnTo>
                  <a:cubicBezTo>
                    <a:pt x="8889" y="304596"/>
                    <a:pt x="5812" y="303322"/>
                    <a:pt x="3543" y="301053"/>
                  </a:cubicBezTo>
                  <a:cubicBezTo>
                    <a:pt x="1275" y="298784"/>
                    <a:pt x="0" y="295707"/>
                    <a:pt x="0" y="292498"/>
                  </a:cubicBezTo>
                  <a:lnTo>
                    <a:pt x="0" y="12098"/>
                  </a:lnTo>
                  <a:cubicBezTo>
                    <a:pt x="0" y="8889"/>
                    <a:pt x="1275" y="5812"/>
                    <a:pt x="3543" y="3543"/>
                  </a:cubicBezTo>
                  <a:cubicBezTo>
                    <a:pt x="5812" y="1275"/>
                    <a:pt x="8889" y="0"/>
                    <a:pt x="12098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1834203" cy="3331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5465097" y="6341159"/>
            <a:ext cx="5131236" cy="371208"/>
            <a:chOff x="0" y="0"/>
            <a:chExt cx="1838411" cy="1329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38411" cy="132996"/>
            </a:xfrm>
            <a:custGeom>
              <a:avLst/>
              <a:gdLst/>
              <a:ahLst/>
              <a:cxnLst/>
              <a:rect r="r" b="b" t="t" l="l"/>
              <a:pathLst>
                <a:path h="132996" w="1838411">
                  <a:moveTo>
                    <a:pt x="12070" y="0"/>
                  </a:moveTo>
                  <a:lnTo>
                    <a:pt x="1826341" y="0"/>
                  </a:lnTo>
                  <a:cubicBezTo>
                    <a:pt x="1833007" y="0"/>
                    <a:pt x="1838411" y="5404"/>
                    <a:pt x="1838411" y="12070"/>
                  </a:cubicBezTo>
                  <a:lnTo>
                    <a:pt x="1838411" y="120926"/>
                  </a:lnTo>
                  <a:cubicBezTo>
                    <a:pt x="1838411" y="124127"/>
                    <a:pt x="1837140" y="127197"/>
                    <a:pt x="1834876" y="129461"/>
                  </a:cubicBezTo>
                  <a:cubicBezTo>
                    <a:pt x="1832613" y="131724"/>
                    <a:pt x="1829542" y="132996"/>
                    <a:pt x="1826341" y="132996"/>
                  </a:cubicBezTo>
                  <a:lnTo>
                    <a:pt x="12070" y="132996"/>
                  </a:lnTo>
                  <a:cubicBezTo>
                    <a:pt x="5404" y="132996"/>
                    <a:pt x="0" y="127592"/>
                    <a:pt x="0" y="120926"/>
                  </a:cubicBezTo>
                  <a:lnTo>
                    <a:pt x="0" y="12070"/>
                  </a:lnTo>
                  <a:cubicBezTo>
                    <a:pt x="0" y="5404"/>
                    <a:pt x="5404" y="0"/>
                    <a:pt x="1207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838411" cy="161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4831534" y="6750467"/>
            <a:ext cx="5755467" cy="766799"/>
            <a:chOff x="0" y="0"/>
            <a:chExt cx="2062060" cy="2747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62060" cy="274728"/>
            </a:xfrm>
            <a:custGeom>
              <a:avLst/>
              <a:gdLst/>
              <a:ahLst/>
              <a:cxnLst/>
              <a:rect r="r" b="b" t="t" l="l"/>
              <a:pathLst>
                <a:path h="274728" w="2062060">
                  <a:moveTo>
                    <a:pt x="10761" y="0"/>
                  </a:moveTo>
                  <a:lnTo>
                    <a:pt x="2051299" y="0"/>
                  </a:lnTo>
                  <a:cubicBezTo>
                    <a:pt x="2057242" y="0"/>
                    <a:pt x="2062060" y="4818"/>
                    <a:pt x="2062060" y="10761"/>
                  </a:cubicBezTo>
                  <a:lnTo>
                    <a:pt x="2062060" y="263967"/>
                  </a:lnTo>
                  <a:cubicBezTo>
                    <a:pt x="2062060" y="269910"/>
                    <a:pt x="2057242" y="274728"/>
                    <a:pt x="2051299" y="274728"/>
                  </a:cubicBezTo>
                  <a:lnTo>
                    <a:pt x="10761" y="274728"/>
                  </a:lnTo>
                  <a:cubicBezTo>
                    <a:pt x="4818" y="274728"/>
                    <a:pt x="0" y="269910"/>
                    <a:pt x="0" y="263967"/>
                  </a:cubicBezTo>
                  <a:lnTo>
                    <a:pt x="0" y="10761"/>
                  </a:lnTo>
                  <a:cubicBezTo>
                    <a:pt x="0" y="4818"/>
                    <a:pt x="4818" y="0"/>
                    <a:pt x="1076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062060" cy="303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5" id="95"/>
          <p:cNvSpPr txBox="true"/>
          <p:nvPr/>
        </p:nvSpPr>
        <p:spPr>
          <a:xfrm rot="0">
            <a:off x="178482" y="3509393"/>
            <a:ext cx="4385923" cy="87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"/>
              </a:lnSpc>
              <a:spcBef>
                <a:spcPct val="0"/>
              </a:spcBef>
            </a:pPr>
            <a:r>
              <a:rPr lang="en-US" sz="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Both</a:t>
            </a:r>
            <a:r>
              <a:rPr lang="en-US" sz="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contributions have 3 decimal places, so M keeps 3 decimal places. Percentages sum to 100.000%.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2116646" y="8264"/>
            <a:ext cx="645604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 count card: Sea Salt (NaCl)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1801655" y="680783"/>
            <a:ext cx="1339656" cy="226424"/>
            <a:chOff x="0" y="0"/>
            <a:chExt cx="479970" cy="8112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79970" cy="81123"/>
            </a:xfrm>
            <a:custGeom>
              <a:avLst/>
              <a:gdLst/>
              <a:ahLst/>
              <a:cxnLst/>
              <a:rect r="r" b="b" t="t" l="l"/>
              <a:pathLst>
                <a:path h="81123" w="479970">
                  <a:moveTo>
                    <a:pt x="23116" y="0"/>
                  </a:moveTo>
                  <a:lnTo>
                    <a:pt x="456854" y="0"/>
                  </a:lnTo>
                  <a:cubicBezTo>
                    <a:pt x="469620" y="0"/>
                    <a:pt x="479970" y="10349"/>
                    <a:pt x="479970" y="23116"/>
                  </a:cubicBezTo>
                  <a:lnTo>
                    <a:pt x="479970" y="58007"/>
                  </a:lnTo>
                  <a:cubicBezTo>
                    <a:pt x="479970" y="70773"/>
                    <a:pt x="469620" y="81123"/>
                    <a:pt x="456854" y="81123"/>
                  </a:cubicBezTo>
                  <a:lnTo>
                    <a:pt x="23116" y="81123"/>
                  </a:lnTo>
                  <a:cubicBezTo>
                    <a:pt x="10349" y="81123"/>
                    <a:pt x="0" y="70773"/>
                    <a:pt x="0" y="58007"/>
                  </a:cubicBezTo>
                  <a:lnTo>
                    <a:pt x="0" y="23116"/>
                  </a:lnTo>
                  <a:cubicBezTo>
                    <a:pt x="0" y="10349"/>
                    <a:pt x="10349" y="0"/>
                    <a:pt x="2311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479970" cy="1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823177" y="910224"/>
            <a:ext cx="3314664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oduct: Sea salt, Riyadh Salt Industry Co.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Compound: sodium chloride, NaCl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it’s here: NaCl is the seasoning itself, and the label reports its sodium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Student: Kasey Carlyle D. Guadalupe, Chemistry for Engineers 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823177" y="687997"/>
            <a:ext cx="1296613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b="true" sz="1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A:</a:t>
            </a:r>
            <a:r>
              <a:rPr lang="en-US" b="true" sz="1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Product identity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11342" y="2316760"/>
            <a:ext cx="1476882" cy="17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7"/>
              </a:lnSpc>
              <a:spcBef>
                <a:spcPct val="0"/>
              </a:spcBef>
            </a:pPr>
            <a:r>
              <a:rPr lang="en-US" b="true" sz="101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C:</a:t>
            </a:r>
            <a:r>
              <a:rPr lang="en-US" b="true" sz="101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Molar-mass build-up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87438" y="2548341"/>
            <a:ext cx="676816" cy="8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9"/>
              </a:lnSpc>
            </a:pPr>
            <a:r>
              <a:rPr lang="en-US" sz="79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Element</a:t>
            </a:r>
          </a:p>
          <a:p>
            <a:pPr algn="just">
              <a:lnSpc>
                <a:spcPts val="1829"/>
              </a:lnSpc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NaCl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79814" y="2548341"/>
            <a:ext cx="653631" cy="87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b="true" sz="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Atoms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794339" y="2548341"/>
            <a:ext cx="816687" cy="64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b="true" sz="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g/mol each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22.990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35.453 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676310" y="2546204"/>
            <a:ext cx="597590" cy="863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34"/>
              </a:lnSpc>
              <a:spcBef>
                <a:spcPct val="0"/>
              </a:spcBef>
            </a:pPr>
            <a:r>
              <a:rPr lang="en-US" b="true" sz="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g/mol</a:t>
            </a:r>
          </a:p>
          <a:p>
            <a:pPr algn="just">
              <a:lnSpc>
                <a:spcPts val="1734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22.990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35.453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58.443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469749" y="2526912"/>
            <a:ext cx="722635" cy="8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45"/>
              </a:lnSpc>
              <a:spcBef>
                <a:spcPct val="0"/>
              </a:spcBef>
            </a:pPr>
            <a:r>
              <a:rPr lang="en-US" b="true" sz="79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% by mass</a:t>
            </a:r>
          </a:p>
          <a:p>
            <a:pPr algn="just">
              <a:lnSpc>
                <a:spcPts val="1845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39.337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60.663</a:t>
            </a:r>
          </a:p>
          <a:p>
            <a:pPr algn="just">
              <a:lnSpc>
                <a:spcPts val="1829"/>
              </a:lnSpc>
              <a:spcBef>
                <a:spcPct val="0"/>
              </a:spcBef>
            </a:pPr>
            <a:r>
              <a:rPr lang="en-US" sz="7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100.000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5453509" y="3090336"/>
            <a:ext cx="131223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6.9 × 10² g NaCl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8691266" y="3806717"/>
            <a:ext cx="1517120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7.1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 10²⁴ Na atoms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7328879" y="3480131"/>
            <a:ext cx="2861921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 6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.022 140 76 × 10²³ formula units/mol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852124" y="3480131"/>
            <a:ext cx="211396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.1 × 10²⁴ NaCl formula units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7186377" y="3096152"/>
            <a:ext cx="107201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÷58.443 g/mol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663382" y="3104663"/>
            <a:ext cx="144260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.2 × 10¹ mol NaCl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5437865" y="2696707"/>
            <a:ext cx="1320058" cy="282066"/>
            <a:chOff x="0" y="0"/>
            <a:chExt cx="472948" cy="10105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72948" cy="101058"/>
            </a:xfrm>
            <a:custGeom>
              <a:avLst/>
              <a:gdLst/>
              <a:ahLst/>
              <a:cxnLst/>
              <a:rect r="r" b="b" t="t" l="l"/>
              <a:pathLst>
                <a:path h="101058" w="472948">
                  <a:moveTo>
                    <a:pt x="23459" y="0"/>
                  </a:moveTo>
                  <a:lnTo>
                    <a:pt x="449489" y="0"/>
                  </a:lnTo>
                  <a:cubicBezTo>
                    <a:pt x="462445" y="0"/>
                    <a:pt x="472948" y="10503"/>
                    <a:pt x="472948" y="23459"/>
                  </a:cubicBezTo>
                  <a:lnTo>
                    <a:pt x="472948" y="77599"/>
                  </a:lnTo>
                  <a:cubicBezTo>
                    <a:pt x="472948" y="83821"/>
                    <a:pt x="470477" y="89788"/>
                    <a:pt x="466077" y="94187"/>
                  </a:cubicBezTo>
                  <a:cubicBezTo>
                    <a:pt x="461678" y="98587"/>
                    <a:pt x="455711" y="101058"/>
                    <a:pt x="449489" y="101058"/>
                  </a:cubicBezTo>
                  <a:lnTo>
                    <a:pt x="23459" y="101058"/>
                  </a:lnTo>
                  <a:cubicBezTo>
                    <a:pt x="17238" y="101058"/>
                    <a:pt x="11271" y="98587"/>
                    <a:pt x="6871" y="94187"/>
                  </a:cubicBezTo>
                  <a:cubicBezTo>
                    <a:pt x="2472" y="89788"/>
                    <a:pt x="0" y="83821"/>
                    <a:pt x="0" y="77599"/>
                  </a:cubicBezTo>
                  <a:lnTo>
                    <a:pt x="0" y="23459"/>
                  </a:lnTo>
                  <a:cubicBezTo>
                    <a:pt x="0" y="10503"/>
                    <a:pt x="10503" y="0"/>
                    <a:pt x="2345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28575"/>
              <a:ext cx="472948" cy="129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5429052" y="2729155"/>
            <a:ext cx="131223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D: The mole map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214615" y="3702471"/>
            <a:ext cx="2026523" cy="178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5"/>
              </a:lnSpc>
              <a:spcBef>
                <a:spcPct val="0"/>
              </a:spcBef>
            </a:pPr>
            <a:r>
              <a:rPr lang="en-US" b="true" sz="10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E: Mole-conversion calculations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01990" y="4595790"/>
            <a:ext cx="4237816" cy="19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Mass → moles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687.08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NaCl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(1 mol NaCl / 58.443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NaCl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11.7564 mol → 1.2 × 10¹ mol NaCl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202815" y="4847886"/>
            <a:ext cx="4236991" cy="28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Moles → formula units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11.7564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mol NaCl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(6.022 140 76 × 10²³ formula units / 1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7.0799 × 10²⁴ → 7.1 × 10²⁴ NaCl formula units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203640" y="5227511"/>
            <a:ext cx="4236167" cy="28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Atoms of one element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7.0799 × 10²⁴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 units NaCl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(1 Na atom / 1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formula unit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7.0799 × 10²⁴ → 7.1 × 10²⁴ Na atoms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201165" y="5607135"/>
            <a:ext cx="4169514" cy="3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Percent composition and two-route check (Na)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Route A: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%Na = (22.990 / 58.443) × 100% = 39.337%       687.08 g × 0.39337 = 270.3 g Na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Route B: 11.7564 mol NaCl × (1 mol Na / 1 mol NaCl) × (22.990 g Na / 1 mol Na) = 270.28 g Na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Both routes → 2.7 × 10² g Na ✔ agree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01165" y="6493914"/>
            <a:ext cx="4474258" cy="28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Scale-up and reverse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40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containers 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 (11.7564 mol / 1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container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= 470.26 mol → 4.7 × 10² mol NaCl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1.00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mol 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× (58.443 g / 1 </a:t>
            </a:r>
            <a:r>
              <a:rPr lang="en-US" sz="753" strike="sng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mol</a:t>
            </a: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× (1 serving / 1.4744 g) = 39.638 → 4.0 × 10¹ servings per mole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78482" y="6114289"/>
            <a:ext cx="4238641" cy="287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  <a:r>
              <a:rPr lang="en-US" b="true" sz="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Reverse: % composition → formula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100 g: Na 39.337 g ÷ 22.990 = 1.711 mol; Cl 60.663 g ÷ 35.453 = 1.711 mol</a:t>
            </a:r>
          </a:p>
          <a:p>
            <a:pPr algn="l">
              <a:lnSpc>
                <a:spcPts val="753"/>
              </a:lnSpc>
              <a:spcBef>
                <a:spcPct val="0"/>
              </a:spcBef>
            </a:pPr>
            <a:r>
              <a:rPr lang="en-US" sz="7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÷ 1.711 → Na 1 : Cl 1 → NaCl (empirical = molecular, n = 58.443 ÷ 58.443 = 1)</a:t>
            </a:r>
          </a:p>
        </p:txBody>
      </p:sp>
      <p:sp>
        <p:nvSpPr>
          <p:cNvPr name="Freeform 125" id="125"/>
          <p:cNvSpPr/>
          <p:nvPr/>
        </p:nvSpPr>
        <p:spPr>
          <a:xfrm>
            <a:off x="4247414" y="6721122"/>
            <a:ext cx="154725" cy="175697"/>
          </a:xfrm>
          <a:custGeom>
            <a:avLst/>
            <a:gdLst/>
            <a:ahLst/>
            <a:cxnLst/>
            <a:rect r="r" b="b" t="t" l="l"/>
            <a:pathLst>
              <a:path h="175697" w="154725">
                <a:moveTo>
                  <a:pt x="5735" y="0"/>
                </a:moveTo>
                <a:lnTo>
                  <a:pt x="80230" y="0"/>
                </a:lnTo>
                <a:cubicBezTo>
                  <a:pt x="99987" y="0"/>
                  <a:pt x="118935" y="7849"/>
                  <a:pt x="132906" y="21819"/>
                </a:cubicBezTo>
                <a:cubicBezTo>
                  <a:pt x="146876" y="35790"/>
                  <a:pt x="154725" y="54738"/>
                  <a:pt x="154725" y="74496"/>
                </a:cubicBezTo>
                <a:lnTo>
                  <a:pt x="154725" y="98335"/>
                </a:lnTo>
                <a:cubicBezTo>
                  <a:pt x="154725" y="118853"/>
                  <a:pt x="146574" y="138530"/>
                  <a:pt x="132066" y="153038"/>
                </a:cubicBezTo>
                <a:cubicBezTo>
                  <a:pt x="117558" y="167547"/>
                  <a:pt x="97880" y="175697"/>
                  <a:pt x="77363" y="175697"/>
                </a:cubicBezTo>
                <a:lnTo>
                  <a:pt x="0" y="175697"/>
                </a:lnTo>
              </a:path>
            </a:pathLst>
          </a:cu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6" id="126"/>
          <p:cNvSpPr txBox="true"/>
          <p:nvPr/>
        </p:nvSpPr>
        <p:spPr>
          <a:xfrm rot="0">
            <a:off x="5563401" y="4225557"/>
            <a:ext cx="309731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F: Scale-up, from one container to a class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526148" y="4465136"/>
            <a:ext cx="1741771" cy="540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container: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.2 × 10¹ 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 NaCl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7.1 × 10²⁴ NaCl formula u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6.9 × 10² g NaCl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7121963" y="4462945"/>
            <a:ext cx="1569303" cy="54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40 containers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.7 × 10² 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ol NaCl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 × 10⁴ g (about 27 kg)</a:t>
            </a:r>
          </a:p>
          <a:p>
            <a:pPr algn="l" marL="172721" indent="-86360" lvl="1">
              <a:lnSpc>
                <a:spcPts val="1120"/>
              </a:lnSpc>
              <a:spcBef>
                <a:spcPct val="0"/>
              </a:spcBef>
              <a:buFont typeface="Arial"/>
              <a:buChar char="•"/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2.8 × 10²⁶ NaCl formula u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8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8715824" y="4135878"/>
            <a:ext cx="1497343" cy="18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"/>
              </a:lnSpc>
              <a:spcBef>
                <a:spcPct val="0"/>
              </a:spcBef>
            </a:pP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Assumed scenario: 40 students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× 1 container each. The count is exact.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8715824" y="4490044"/>
            <a:ext cx="1832806" cy="54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  <a:spcBef>
                <a:spcPct val="0"/>
              </a:spcBef>
            </a:pPr>
            <a:r>
              <a:rPr lang="en-US" b="true" sz="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Reverse,</a:t>
            </a:r>
            <a:r>
              <a:rPr lang="en-US" b="true" sz="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how </a:t>
            </a:r>
            <a:r>
              <a:rPr lang="en-US" b="true" sz="799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much</a:t>
            </a:r>
            <a:r>
              <a:rPr lang="en-US" b="true" sz="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makes one mole?</a:t>
            </a:r>
          </a:p>
          <a:p>
            <a:pPr algn="l" marL="172720" indent="-86360" lvl="1">
              <a:lnSpc>
                <a:spcPts val="1119"/>
              </a:lnSpc>
              <a:spcBef>
                <a:spcPct val="0"/>
              </a:spcBef>
              <a:buFont typeface="Arial"/>
              <a:buChar char="•"/>
            </a:pPr>
            <a:r>
              <a:rPr lang="en-US" sz="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4.0 × 10¹ servings make 1.00 mol</a:t>
            </a:r>
          </a:p>
          <a:p>
            <a:pPr algn="l" marL="172720" indent="-86360" lvl="1">
              <a:lnSpc>
                <a:spcPts val="1119"/>
              </a:lnSpc>
              <a:spcBef>
                <a:spcPct val="0"/>
              </a:spcBef>
              <a:buFont typeface="Arial"/>
              <a:buChar char="•"/>
            </a:pPr>
            <a:r>
              <a:rPr lang="en-US" sz="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That’s 8.5 × 10⁻² of one container (1.00 mol ÷ 11.7564 mol)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5499592" y="5281975"/>
            <a:ext cx="1142631" cy="237243"/>
            <a:chOff x="0" y="0"/>
            <a:chExt cx="1523508" cy="316324"/>
          </a:xfrm>
        </p:grpSpPr>
        <p:grpSp>
          <p:nvGrpSpPr>
            <p:cNvPr name="Group 132" id="132"/>
            <p:cNvGrpSpPr/>
            <p:nvPr/>
          </p:nvGrpSpPr>
          <p:grpSpPr>
            <a:xfrm rot="0">
              <a:off x="0" y="0"/>
              <a:ext cx="1523508" cy="316324"/>
              <a:chOff x="0" y="0"/>
              <a:chExt cx="489219" cy="101576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489219" cy="101576"/>
              </a:xfrm>
              <a:custGeom>
                <a:avLst/>
                <a:gdLst/>
                <a:ahLst/>
                <a:cxnLst/>
                <a:rect r="r" b="b" t="t" l="l"/>
                <a:pathLst>
                  <a:path h="101576" w="489219">
                    <a:moveTo>
                      <a:pt x="27102" y="0"/>
                    </a:moveTo>
                    <a:lnTo>
                      <a:pt x="462117" y="0"/>
                    </a:lnTo>
                    <a:cubicBezTo>
                      <a:pt x="477085" y="0"/>
                      <a:pt x="489219" y="12134"/>
                      <a:pt x="489219" y="27102"/>
                    </a:cubicBezTo>
                    <a:lnTo>
                      <a:pt x="489219" y="74474"/>
                    </a:lnTo>
                    <a:cubicBezTo>
                      <a:pt x="489219" y="89442"/>
                      <a:pt x="477085" y="101576"/>
                      <a:pt x="462117" y="101576"/>
                    </a:cubicBezTo>
                    <a:lnTo>
                      <a:pt x="27102" y="101576"/>
                    </a:lnTo>
                    <a:cubicBezTo>
                      <a:pt x="12134" y="101576"/>
                      <a:pt x="0" y="89442"/>
                      <a:pt x="0" y="74474"/>
                    </a:cubicBezTo>
                    <a:lnTo>
                      <a:pt x="0" y="27102"/>
                    </a:lnTo>
                    <a:cubicBezTo>
                      <a:pt x="0" y="12134"/>
                      <a:pt x="12134" y="0"/>
                      <a:pt x="27102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-28575"/>
                <a:ext cx="489219" cy="1301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30331" y="30738"/>
              <a:ext cx="1433053" cy="235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  <a:r>
                <a:rPr lang="en-US" b="true" sz="110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G: Sig-fig check</a:t>
              </a:r>
            </a:p>
          </p:txBody>
        </p:sp>
      </p:grpSp>
      <p:sp>
        <p:nvSpPr>
          <p:cNvPr name="TextBox 136" id="136"/>
          <p:cNvSpPr txBox="true"/>
          <p:nvPr/>
        </p:nvSpPr>
        <p:spPr>
          <a:xfrm rot="0">
            <a:off x="5550468" y="5557689"/>
            <a:ext cx="4998162" cy="688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Calculator: 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.0799 × 10²⁴ formula units</a:t>
            </a:r>
          </a:p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Reported: 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7.1 × 10²⁴ NaCl formula u</a:t>
            </a:r>
            <a:r>
              <a:rPr lang="en-US" sz="7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7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b="true" sz="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limits it: 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label’s sodium value, 580 mg, taken as 2 s</a:t>
            </a: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.f. (5.8 × 10² mg)</a:t>
            </a:r>
          </a:p>
          <a:p>
            <a:pPr algn="l">
              <a:lnSpc>
                <a:spcPts val="840"/>
              </a:lnSpc>
              <a:spcBef>
                <a:spcPct val="0"/>
              </a:spcBef>
            </a:pP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Exact, so not limiting: Nₐ, formula subscripts, 1 g = 1000 mg, 466 servings, 40 containers</a:t>
            </a:r>
          </a:p>
          <a:p>
            <a:pPr algn="l">
              <a:lnSpc>
                <a:spcPts val="980"/>
              </a:lnSpc>
              <a:spcBef>
                <a:spcPct val="0"/>
              </a:spcBef>
            </a:pPr>
            <a:r>
              <a:rPr lang="en-US" sz="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limiting: molar masses and percentages from atomic masses (carried at 4 to 5 s.f.) Guard digits kept until the last line of each calculation.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550468" y="6422574"/>
            <a:ext cx="4998162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container of salt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contains ab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 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7.1 × 10²⁴ NaCl formula u</a:t>
            </a:r>
            <a:r>
              <a:rPr lang="en-US" sz="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900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s,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which surprised me </a:t>
            </a:r>
            <a:r>
              <a:rPr lang="en-US" sz="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because for less than a kilogram of salt, it’s an incredibly large number of tiny particles.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4847884" y="7131275"/>
            <a:ext cx="5722766" cy="15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"/>
              </a:lnSpc>
              <a:spcBef>
                <a:spcPct val="0"/>
              </a:spcBef>
            </a:pP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Riyadh Salt Industry C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o. (2025). </a:t>
            </a:r>
            <a:r>
              <a:rPr lang="en-US" sz="69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Risa Iodized Salt, 700 g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[Product label]. Photograph by Kasey Carlyle D. Guadalupe, October 13, 2026.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4895726" y="6769517"/>
            <a:ext cx="5627083" cy="180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"/>
              </a:lnSpc>
              <a:spcBef>
                <a:spcPct val="0"/>
              </a:spcBef>
            </a:pP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Bureau International des Poids et Mesures. (2019). </a:t>
            </a:r>
            <a:r>
              <a:rPr lang="en-US" sz="69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The International System of Units (SI) 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(9th ed.). </a:t>
            </a:r>
            <a:r>
              <a:rPr lang="en-US" sz="697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bipm.org/en/publications/si-brochure"/>
              </a:rPr>
              <a:t>https://www.bipm.org/en/publications/si-brochure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62028" y="7151054"/>
            <a:ext cx="4078590" cy="26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"/>
              </a:lnSpc>
              <a:spcBef>
                <a:spcPct val="0"/>
              </a:spcBef>
            </a:pP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(Claude) was used to explain mole-concept steps, check my calculations as a second opinion, and give feedback on my card layou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 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my takeaway s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tence. All la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values, 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lcula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tions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reference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f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nal answe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we</a:t>
            </a:r>
            <a:r>
              <a:rPr lang="en-US" sz="699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independently verified by me.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4857211" y="7321460"/>
            <a:ext cx="5704112" cy="17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"/>
              </a:lnSpc>
              <a:spcBef>
                <a:spcPct val="0"/>
              </a:spcBef>
            </a:pP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Science Notes. (2017). </a:t>
            </a:r>
            <a:r>
              <a:rPr lang="en-US" sz="69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Periodic table of the elements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[Image]. Retrieved October 13, 2026, from </a:t>
            </a:r>
            <a:r>
              <a:rPr lang="en-US" sz="697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sciencenotes.org/wp-content/uploads/2017/01/PeriodicTableBW2017.png"/>
              </a:rPr>
              <a:t>https://sciencenotes.org/wp-content/uploads/2017/01/PeriodicTableBW2017.png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6796735" y="2762093"/>
            <a:ext cx="2323976" cy="17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"/>
              </a:lnSpc>
              <a:spcBef>
                <a:spcPct val="0"/>
              </a:spcBef>
            </a:pPr>
            <a:r>
              <a:rPr lang="en-US" sz="69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Grams never convert straight to particles. Always pass through moles, and name the entity at every step.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4544916" y="4761292"/>
            <a:ext cx="888540" cy="259545"/>
            <a:chOff x="0" y="0"/>
            <a:chExt cx="380429" cy="111125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80429" cy="111125"/>
            </a:xfrm>
            <a:custGeom>
              <a:avLst/>
              <a:gdLst/>
              <a:ahLst/>
              <a:cxnLst/>
              <a:rect r="r" b="b" t="t" l="l"/>
              <a:pathLst>
                <a:path h="111125" w="380429">
                  <a:moveTo>
                    <a:pt x="34852" y="0"/>
                  </a:moveTo>
                  <a:lnTo>
                    <a:pt x="345577" y="0"/>
                  </a:lnTo>
                  <a:cubicBezTo>
                    <a:pt x="364826" y="0"/>
                    <a:pt x="380429" y="15604"/>
                    <a:pt x="380429" y="34852"/>
                  </a:cubicBezTo>
                  <a:lnTo>
                    <a:pt x="380429" y="76272"/>
                  </a:lnTo>
                  <a:cubicBezTo>
                    <a:pt x="380429" y="95521"/>
                    <a:pt x="364826" y="111125"/>
                    <a:pt x="345577" y="111125"/>
                  </a:cubicBezTo>
                  <a:lnTo>
                    <a:pt x="34852" y="111125"/>
                  </a:lnTo>
                  <a:cubicBezTo>
                    <a:pt x="15604" y="111125"/>
                    <a:pt x="0" y="95521"/>
                    <a:pt x="0" y="76272"/>
                  </a:cubicBezTo>
                  <a:lnTo>
                    <a:pt x="0" y="34852"/>
                  </a:lnTo>
                  <a:cubicBezTo>
                    <a:pt x="0" y="15604"/>
                    <a:pt x="15604" y="0"/>
                    <a:pt x="3485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380429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6" id="146"/>
          <p:cNvSpPr txBox="true"/>
          <p:nvPr/>
        </p:nvSpPr>
        <p:spPr>
          <a:xfrm rot="0">
            <a:off x="4501528" y="4778670"/>
            <a:ext cx="950118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"/>
              </a:lnSpc>
              <a:spcBef>
                <a:spcPct val="0"/>
              </a:spcBef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NaCl is ionic, so I count formula units, not molecules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4483164" y="5479232"/>
            <a:ext cx="938565" cy="296787"/>
            <a:chOff x="0" y="0"/>
            <a:chExt cx="401848" cy="12707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401848" cy="127070"/>
            </a:xfrm>
            <a:custGeom>
              <a:avLst/>
              <a:gdLst/>
              <a:ahLst/>
              <a:cxnLst/>
              <a:rect r="r" b="b" t="t" l="l"/>
              <a:pathLst>
                <a:path h="127070" w="401848">
                  <a:moveTo>
                    <a:pt x="32995" y="0"/>
                  </a:moveTo>
                  <a:lnTo>
                    <a:pt x="368853" y="0"/>
                  </a:lnTo>
                  <a:cubicBezTo>
                    <a:pt x="387076" y="0"/>
                    <a:pt x="401848" y="14772"/>
                    <a:pt x="401848" y="32995"/>
                  </a:cubicBezTo>
                  <a:lnTo>
                    <a:pt x="401848" y="94075"/>
                  </a:lnTo>
                  <a:cubicBezTo>
                    <a:pt x="401848" y="102826"/>
                    <a:pt x="398372" y="111218"/>
                    <a:pt x="392184" y="117406"/>
                  </a:cubicBezTo>
                  <a:cubicBezTo>
                    <a:pt x="385996" y="123594"/>
                    <a:pt x="377604" y="127070"/>
                    <a:pt x="368853" y="127070"/>
                  </a:cubicBezTo>
                  <a:lnTo>
                    <a:pt x="32995" y="127070"/>
                  </a:lnTo>
                  <a:cubicBezTo>
                    <a:pt x="24244" y="127070"/>
                    <a:pt x="15852" y="123594"/>
                    <a:pt x="9664" y="117406"/>
                  </a:cubicBezTo>
                  <a:cubicBezTo>
                    <a:pt x="3476" y="111218"/>
                    <a:pt x="0" y="102826"/>
                    <a:pt x="0" y="94075"/>
                  </a:cubicBezTo>
                  <a:lnTo>
                    <a:pt x="0" y="32995"/>
                  </a:lnTo>
                  <a:cubicBezTo>
                    <a:pt x="0" y="24244"/>
                    <a:pt x="3476" y="15852"/>
                    <a:pt x="9664" y="9664"/>
                  </a:cubicBezTo>
                  <a:cubicBezTo>
                    <a:pt x="15852" y="3476"/>
                    <a:pt x="24244" y="0"/>
                    <a:pt x="3299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28575"/>
              <a:ext cx="401848" cy="15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0" id="150"/>
          <p:cNvSpPr txBox="true"/>
          <p:nvPr/>
        </p:nvSpPr>
        <p:spPr>
          <a:xfrm rot="0">
            <a:off x="4475840" y="5524055"/>
            <a:ext cx="953212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"/>
              </a:lnSpc>
              <a:spcBef>
                <a:spcPct val="0"/>
              </a:spcBef>
            </a:pPr>
            <a:r>
              <a:rPr lang="en-US" sz="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Both routes give 2.7 × 10² g of sodium, so my mole steps are consistent.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8665557" y="4390808"/>
            <a:ext cx="1339620" cy="7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"/>
              </a:lnSpc>
              <a:spcBef>
                <a:spcPct val="0"/>
              </a:spcBef>
            </a:pPr>
            <a:r>
              <a:rPr lang="en-US" sz="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40 containers is about 27kg of salt.</a:t>
            </a:r>
          </a:p>
        </p:txBody>
      </p:sp>
      <p:sp>
        <p:nvSpPr>
          <p:cNvPr name="AutoShape 152" id="152"/>
          <p:cNvSpPr/>
          <p:nvPr/>
        </p:nvSpPr>
        <p:spPr>
          <a:xfrm>
            <a:off x="2547982" y="5634854"/>
            <a:ext cx="1927858" cy="1597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3" id="153"/>
          <p:cNvSpPr/>
          <p:nvPr/>
        </p:nvSpPr>
        <p:spPr>
          <a:xfrm flipV="true">
            <a:off x="1406629" y="4891065"/>
            <a:ext cx="313828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4" id="154"/>
          <p:cNvGrpSpPr/>
          <p:nvPr/>
        </p:nvGrpSpPr>
        <p:grpSpPr>
          <a:xfrm rot="0">
            <a:off x="1102528" y="6844617"/>
            <a:ext cx="3142271" cy="104685"/>
            <a:chOff x="0" y="0"/>
            <a:chExt cx="1345367" cy="44821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345367" cy="44821"/>
            </a:xfrm>
            <a:custGeom>
              <a:avLst/>
              <a:gdLst/>
              <a:ahLst/>
              <a:cxnLst/>
              <a:rect r="r" b="b" t="t" l="l"/>
              <a:pathLst>
                <a:path h="44821" w="1345367">
                  <a:moveTo>
                    <a:pt x="9855" y="0"/>
                  </a:moveTo>
                  <a:lnTo>
                    <a:pt x="1335512" y="0"/>
                  </a:lnTo>
                  <a:cubicBezTo>
                    <a:pt x="1338126" y="0"/>
                    <a:pt x="1340633" y="1038"/>
                    <a:pt x="1342481" y="2887"/>
                  </a:cubicBezTo>
                  <a:cubicBezTo>
                    <a:pt x="1344329" y="4735"/>
                    <a:pt x="1345367" y="7241"/>
                    <a:pt x="1345367" y="9855"/>
                  </a:cubicBezTo>
                  <a:lnTo>
                    <a:pt x="1345367" y="34966"/>
                  </a:lnTo>
                  <a:cubicBezTo>
                    <a:pt x="1345367" y="37580"/>
                    <a:pt x="1344329" y="40086"/>
                    <a:pt x="1342481" y="41935"/>
                  </a:cubicBezTo>
                  <a:cubicBezTo>
                    <a:pt x="1340633" y="43783"/>
                    <a:pt x="1338126" y="44821"/>
                    <a:pt x="1335512" y="44821"/>
                  </a:cubicBezTo>
                  <a:lnTo>
                    <a:pt x="9855" y="44821"/>
                  </a:lnTo>
                  <a:cubicBezTo>
                    <a:pt x="7241" y="44821"/>
                    <a:pt x="4735" y="43783"/>
                    <a:pt x="2887" y="41935"/>
                  </a:cubicBezTo>
                  <a:cubicBezTo>
                    <a:pt x="1038" y="40086"/>
                    <a:pt x="0" y="37580"/>
                    <a:pt x="0" y="34966"/>
                  </a:cubicBezTo>
                  <a:lnTo>
                    <a:pt x="0" y="9855"/>
                  </a:lnTo>
                  <a:cubicBezTo>
                    <a:pt x="0" y="7241"/>
                    <a:pt x="1038" y="4735"/>
                    <a:pt x="2887" y="2887"/>
                  </a:cubicBezTo>
                  <a:cubicBezTo>
                    <a:pt x="4735" y="1038"/>
                    <a:pt x="7241" y="0"/>
                    <a:pt x="985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28575"/>
              <a:ext cx="1345367" cy="73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57" id="157"/>
          <p:cNvSpPr txBox="true"/>
          <p:nvPr/>
        </p:nvSpPr>
        <p:spPr>
          <a:xfrm rot="0">
            <a:off x="1125899" y="6806517"/>
            <a:ext cx="3100822" cy="12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"/>
              </a:lnSpc>
              <a:spcBef>
                <a:spcPct val="0"/>
              </a:spcBef>
            </a:pPr>
            <a:r>
              <a:rPr lang="en-US" sz="5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One mole is only 4.0x10¹ servings, so one mole is a small percentage of one container.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4848812" y="6985838"/>
            <a:ext cx="5720910" cy="17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"/>
              </a:lnSpc>
              <a:spcBef>
                <a:spcPct val="0"/>
              </a:spcBef>
            </a:pP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National Center for Biotechnology Information. (n.d.). </a:t>
            </a:r>
            <a:r>
              <a:rPr lang="en-US" sz="69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PubChem compound summary for CID 5234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69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sodium chloride</a:t>
            </a:r>
            <a:r>
              <a:rPr lang="en-US" sz="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Retrieved October 15, 2026, from </a:t>
            </a:r>
            <a:r>
              <a:rPr lang="en-US" sz="697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pubchem.ncbi.nlm.nih.gov/compound/5234"/>
              </a:rPr>
              <a:t>https://pubchem.ncbi.nlm.nih.gov/compound/5234</a:t>
            </a:r>
          </a:p>
        </p:txBody>
      </p:sp>
      <p:grpSp>
        <p:nvGrpSpPr>
          <p:cNvPr name="Group 159" id="159"/>
          <p:cNvGrpSpPr/>
          <p:nvPr/>
        </p:nvGrpSpPr>
        <p:grpSpPr>
          <a:xfrm rot="0">
            <a:off x="5470992" y="6283688"/>
            <a:ext cx="478107" cy="119836"/>
            <a:chOff x="0" y="0"/>
            <a:chExt cx="405254" cy="10157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405254" cy="101576"/>
            </a:xfrm>
            <a:custGeom>
              <a:avLst/>
              <a:gdLst/>
              <a:ahLst/>
              <a:cxnLst/>
              <a:rect r="r" b="b" t="t" l="l"/>
              <a:pathLst>
                <a:path h="101576" w="405254">
                  <a:moveTo>
                    <a:pt x="50788" y="0"/>
                  </a:moveTo>
                  <a:lnTo>
                    <a:pt x="354466" y="0"/>
                  </a:lnTo>
                  <a:cubicBezTo>
                    <a:pt x="367935" y="0"/>
                    <a:pt x="380854" y="5351"/>
                    <a:pt x="390378" y="14875"/>
                  </a:cubicBezTo>
                  <a:cubicBezTo>
                    <a:pt x="399903" y="24400"/>
                    <a:pt x="405254" y="37318"/>
                    <a:pt x="405254" y="50788"/>
                  </a:cubicBezTo>
                  <a:lnTo>
                    <a:pt x="405254" y="50788"/>
                  </a:lnTo>
                  <a:cubicBezTo>
                    <a:pt x="405254" y="78837"/>
                    <a:pt x="382515" y="101576"/>
                    <a:pt x="354466" y="101576"/>
                  </a:cubicBezTo>
                  <a:lnTo>
                    <a:pt x="50788" y="101576"/>
                  </a:lnTo>
                  <a:cubicBezTo>
                    <a:pt x="37318" y="101576"/>
                    <a:pt x="24400" y="96225"/>
                    <a:pt x="14875" y="86700"/>
                  </a:cubicBezTo>
                  <a:cubicBezTo>
                    <a:pt x="5351" y="77176"/>
                    <a:pt x="0" y="64258"/>
                    <a:pt x="0" y="50788"/>
                  </a:cubicBezTo>
                  <a:lnTo>
                    <a:pt x="0" y="50788"/>
                  </a:lnTo>
                  <a:cubicBezTo>
                    <a:pt x="0" y="37318"/>
                    <a:pt x="5351" y="24400"/>
                    <a:pt x="14875" y="14875"/>
                  </a:cubicBezTo>
                  <a:cubicBezTo>
                    <a:pt x="24400" y="5351"/>
                    <a:pt x="37318" y="0"/>
                    <a:pt x="5078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28575"/>
              <a:ext cx="405254" cy="130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2" id="162"/>
          <p:cNvSpPr txBox="true"/>
          <p:nvPr/>
        </p:nvSpPr>
        <p:spPr>
          <a:xfrm rot="0">
            <a:off x="5433456" y="6290578"/>
            <a:ext cx="542899" cy="91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"/>
              </a:lnSpc>
              <a:spcBef>
                <a:spcPct val="0"/>
              </a:spcBef>
            </a:pPr>
            <a:r>
              <a:rPr lang="en-US" b="true" sz="55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Takeaway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178482" y="7014031"/>
            <a:ext cx="537639" cy="119836"/>
            <a:chOff x="0" y="0"/>
            <a:chExt cx="455714" cy="101576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55714" cy="101576"/>
            </a:xfrm>
            <a:custGeom>
              <a:avLst/>
              <a:gdLst/>
              <a:ahLst/>
              <a:cxnLst/>
              <a:rect r="r" b="b" t="t" l="l"/>
              <a:pathLst>
                <a:path h="101576" w="455714">
                  <a:moveTo>
                    <a:pt x="50788" y="0"/>
                  </a:moveTo>
                  <a:lnTo>
                    <a:pt x="404926" y="0"/>
                  </a:lnTo>
                  <a:cubicBezTo>
                    <a:pt x="418395" y="0"/>
                    <a:pt x="431314" y="5351"/>
                    <a:pt x="440838" y="14875"/>
                  </a:cubicBezTo>
                  <a:cubicBezTo>
                    <a:pt x="450363" y="24400"/>
                    <a:pt x="455714" y="37318"/>
                    <a:pt x="455714" y="50788"/>
                  </a:cubicBezTo>
                  <a:lnTo>
                    <a:pt x="455714" y="50788"/>
                  </a:lnTo>
                  <a:cubicBezTo>
                    <a:pt x="455714" y="78837"/>
                    <a:pt x="432975" y="101576"/>
                    <a:pt x="404926" y="101576"/>
                  </a:cubicBezTo>
                  <a:lnTo>
                    <a:pt x="50788" y="101576"/>
                  </a:lnTo>
                  <a:cubicBezTo>
                    <a:pt x="37318" y="101576"/>
                    <a:pt x="24400" y="96225"/>
                    <a:pt x="14875" y="86700"/>
                  </a:cubicBezTo>
                  <a:cubicBezTo>
                    <a:pt x="5351" y="77176"/>
                    <a:pt x="0" y="64258"/>
                    <a:pt x="0" y="50788"/>
                  </a:cubicBezTo>
                  <a:lnTo>
                    <a:pt x="0" y="50788"/>
                  </a:lnTo>
                  <a:cubicBezTo>
                    <a:pt x="0" y="37318"/>
                    <a:pt x="5351" y="24400"/>
                    <a:pt x="14875" y="14875"/>
                  </a:cubicBezTo>
                  <a:cubicBezTo>
                    <a:pt x="24400" y="5351"/>
                    <a:pt x="37318" y="0"/>
                    <a:pt x="50788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455714" cy="130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66" id="166"/>
          <p:cNvSpPr txBox="true"/>
          <p:nvPr/>
        </p:nvSpPr>
        <p:spPr>
          <a:xfrm rot="0">
            <a:off x="214615" y="6990442"/>
            <a:ext cx="476238" cy="12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1"/>
              </a:lnSpc>
              <a:spcBef>
                <a:spcPct val="0"/>
              </a:spcBef>
            </a:pPr>
            <a:r>
              <a:rPr lang="en-US" sz="5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Disclosure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DAHYE0j79O0</dc:identifier>
  <dcterms:modified xsi:type="dcterms:W3CDTF">2011-08-01T06:04:30Z</dcterms:modified>
  <cp:revision>1</cp:revision>
  <dc:title>Chemistry ting</dc:title>
</cp:coreProperties>
</file>